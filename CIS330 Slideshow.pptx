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Playfair Display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Oswa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42" Type="http://schemas.openxmlformats.org/officeDocument/2006/relationships/font" Target="fonts/Oswald-regular.fntdata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Oswal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fairDisplay-bold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regular.fntdata"/><Relationship Id="rId15" Type="http://schemas.openxmlformats.org/officeDocument/2006/relationships/slide" Target="slides/slide10.xml"/><Relationship Id="rId37" Type="http://schemas.openxmlformats.org/officeDocument/2006/relationships/font" Target="fonts/PlayfairDisplay-boldItalic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eeaf0df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eeaf0df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1eeaf0df8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1eeaf0df8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eeaf0df8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eeaf0df8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1eeaf0df8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1eeaf0df8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eeaf0df8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1eeaf0df8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eeaf0df8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1eeaf0df8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1eeaf0df8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1eeaf0df8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1eeaf0df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1eeaf0df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1eeaf0df8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1eeaf0df8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1eeaf0df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1eeaf0df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1eeaf0df8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1eeaf0df8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1eeaf0df8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1eeaf0df8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1eeaf0df8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1eeaf0df8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1eeaf0df8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1eeaf0df8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1eeaf0df8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1eeaf0df8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1eeaf0df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1eeaf0df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1eeaf0df8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1eeaf0df8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1eeaf0df8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1eeaf0df8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1eeaf0df8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1eeaf0df8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1eeaf0df8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1eeaf0df8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1eeaf0df8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1eeaf0df8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1eeaf0df8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1eeaf0df8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1eeaf0df8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1eeaf0df8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1eeaf0df8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1eeaf0df8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1eeaf0df8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1eeaf0df8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1eeaf0df8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1eeaf0df8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1eeaf0df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1eeaf0df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674EA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5823850" y="445025"/>
            <a:ext cx="30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rgbClr val="674EA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rgbClr val="F1C232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Char char="●"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○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■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●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○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■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●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○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■"/>
              <a:defRPr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Development of a Bus System for the University of North Alabama</a:t>
            </a:r>
            <a:endParaRPr sz="350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7775"/>
            <a:ext cx="4910100" cy="9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7"/>
              <a:t>By: Olivia Sharpston, Christian Miller, Nolen Robinson, and Jacobe Johnson</a:t>
            </a:r>
            <a:endParaRPr sz="550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7"/>
              <a:t>Professor: Dr. Ron Davis</a:t>
            </a:r>
            <a:endParaRPr sz="550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7"/>
              <a:t>April 30, 2025</a:t>
            </a:r>
            <a:endParaRPr sz="550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 title="UNA-roundLionGol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825" y="2982975"/>
            <a:ext cx="2091976" cy="20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5823850" y="445025"/>
            <a:ext cx="30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>
                <a:solidFill>
                  <a:schemeClr val="lt1"/>
                </a:solidFill>
              </a:rPr>
              <a:t>Outline: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Problem</a:t>
            </a:r>
            <a:r>
              <a:rPr lang="en" sz="2200"/>
              <a:t> Statement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Feasibility</a:t>
            </a:r>
            <a:r>
              <a:rPr lang="en" sz="2200"/>
              <a:t> Study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Brief Review of Requirements Analysis and Specification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Preliminary De</a:t>
            </a:r>
            <a:r>
              <a:rPr lang="en" sz="2200"/>
              <a:t>sign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Detailed Design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Project Management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Mockup of Prototype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Conclusion</a:t>
            </a:r>
            <a:endParaRPr sz="2200"/>
          </a:p>
        </p:txBody>
      </p:sp>
      <p:pic>
        <p:nvPicPr>
          <p:cNvPr id="68" name="Google Shape;68;p14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5823850" y="445025"/>
            <a:ext cx="30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The University of North Alabama Transportation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Not an efficient way of transportation around campus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‘Lion’s Lift’ ended in August 2023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Current campus transportation information known information is outdated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‘Slidr’ is an outdated and no longer used service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Limited parking near campus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Time gap between classes is typically 10 to 15 minutes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May be difficult if class is completely across campus</a:t>
            </a:r>
            <a:endParaRPr sz="1900"/>
          </a:p>
        </p:txBody>
      </p:sp>
      <p:pic>
        <p:nvPicPr>
          <p:cNvPr id="77" name="Google Shape;77;p15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5823850" y="445025"/>
            <a:ext cx="30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r>
              <a:rPr lang="en"/>
              <a:t> Study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This </a:t>
            </a:r>
            <a:r>
              <a:rPr lang="en" sz="1900"/>
              <a:t>would</a:t>
            </a:r>
            <a:r>
              <a:rPr lang="en" sz="1900"/>
              <a:t> be economically feasible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Many students do not have a way of transportation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Will likely increase with current economy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Would lead to higher rate of public transportation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Bus system would be ran by the </a:t>
            </a:r>
            <a:r>
              <a:rPr lang="en" sz="1900"/>
              <a:t>University</a:t>
            </a:r>
            <a:r>
              <a:rPr lang="en" sz="1900"/>
              <a:t> of North Alabama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Becomes a safer way of transportation for students</a:t>
            </a:r>
            <a:endParaRPr sz="1900"/>
          </a:p>
        </p:txBody>
      </p:sp>
      <p:pic>
        <p:nvPicPr>
          <p:cNvPr id="86" name="Google Shape;86;p16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5300325" y="140225"/>
            <a:ext cx="3843600" cy="1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Brief Review of Requirements Analysis and Specification</a:t>
            </a:r>
            <a:endParaRPr sz="27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Functional Requirements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creates wait time for buses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does not bring in data from 17:00 CST to 6:00 CST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call </a:t>
            </a:r>
            <a:r>
              <a:rPr lang="en" sz="1900"/>
              <a:t>location</a:t>
            </a:r>
            <a:r>
              <a:rPr lang="en" sz="1900"/>
              <a:t> API every sixty seconds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integrate with back-end system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Operational Requirements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Should not be more than $35,000 U.S. dollars to develop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Should not cost more than $5,000 U.S. dollars per year to operate</a:t>
            </a:r>
            <a:endParaRPr sz="1900"/>
          </a:p>
        </p:txBody>
      </p:sp>
      <p:pic>
        <p:nvPicPr>
          <p:cNvPr id="95" name="Google Shape;95;p17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5419425" y="216425"/>
            <a:ext cx="37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Brief Review of Requirements Analysis and Specification</a:t>
            </a:r>
            <a:endParaRPr sz="2700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Maintenance and Support Requirements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have an annual uptime of 95%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Downtime average of 18.25 days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automatically checks for necessary updates daily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automatically download and install required updates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Shall not cost for than $ 20,000 U.S. dollars to dispose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Other Specifications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The UNA Transportation I.T. Specialists maintain the system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The system is started by the shuttle bus driver</a:t>
            </a:r>
            <a:endParaRPr sz="1900"/>
          </a:p>
        </p:txBody>
      </p:sp>
      <p:pic>
        <p:nvPicPr>
          <p:cNvPr id="104" name="Google Shape;104;p18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8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5931350" y="292625"/>
            <a:ext cx="27180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GPS Subsystem and Other</a:t>
            </a:r>
            <a:r>
              <a:rPr lang="en" sz="2500"/>
              <a:t> Specifications</a:t>
            </a:r>
            <a:endParaRPr sz="25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0" y="1345000"/>
            <a:ext cx="91440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Who uses the system?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Students, faculty, a GPS </a:t>
            </a:r>
            <a:r>
              <a:rPr lang="en" sz="1900"/>
              <a:t>receiver</a:t>
            </a:r>
            <a:r>
              <a:rPr lang="en" sz="1900"/>
              <a:t> program on the internet, and the end user’s device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Who installs </a:t>
            </a:r>
            <a:r>
              <a:rPr lang="en" sz="1900"/>
              <a:t>the</a:t>
            </a:r>
            <a:r>
              <a:rPr lang="en" sz="1900"/>
              <a:t> GPS subsystem? 	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The system is web based but has a local installation on the shuttles’ GPS transmitter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What other systems interface with the system?	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GPS transmitter hardware, shuttles’ localized network, online-hosted GPS system, and end user’s device (where it is displayed)</a:t>
            </a:r>
            <a:endParaRPr sz="1900"/>
          </a:p>
        </p:txBody>
      </p:sp>
      <p:pic>
        <p:nvPicPr>
          <p:cNvPr id="113" name="Google Shape;113;p19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23" name="Google Shape;123;p20"/>
          <p:cNvSpPr txBox="1"/>
          <p:nvPr>
            <p:ph type="title"/>
          </p:nvPr>
        </p:nvSpPr>
        <p:spPr>
          <a:xfrm>
            <a:off x="6355850" y="592950"/>
            <a:ext cx="18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Use Cases</a:t>
            </a:r>
            <a:endParaRPr sz="2700"/>
          </a:p>
        </p:txBody>
      </p:sp>
      <p:pic>
        <p:nvPicPr>
          <p:cNvPr id="124" name="Google Shape;124;p20" title="Screenshot 2025-04-30 1045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725" y="1461313"/>
            <a:ext cx="72485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5686075" y="516750"/>
            <a:ext cx="323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Actors for the System</a:t>
            </a:r>
            <a:endParaRPr sz="2700"/>
          </a:p>
        </p:txBody>
      </p:sp>
      <p:pic>
        <p:nvPicPr>
          <p:cNvPr id="133" name="Google Shape;133;p21" title="Screenshot 2025-04-30 1044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388" y="1318054"/>
            <a:ext cx="4414778" cy="3357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5093150" y="1394250"/>
            <a:ext cx="37392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Determining</a:t>
            </a:r>
            <a:r>
              <a:rPr lang="en" sz="2100"/>
              <a:t> the actors allows the relationship </a:t>
            </a:r>
            <a:r>
              <a:rPr lang="en" sz="2100"/>
              <a:t>between</a:t>
            </a:r>
            <a:r>
              <a:rPr lang="en" sz="2100"/>
              <a:t> the use cases and who is involved to be seen. Furthermore, this enhances the understand of how each actor </a:t>
            </a:r>
            <a:r>
              <a:rPr lang="en" sz="2100"/>
              <a:t>correlates</a:t>
            </a:r>
            <a:r>
              <a:rPr lang="en" sz="2100"/>
              <a:t> with a use case situation.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5218700" y="1649800"/>
            <a:ext cx="36135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By using a domain class model diagram, it is easier to see the relationships between the objects involved in the system. </a:t>
            </a:r>
            <a:endParaRPr sz="1900"/>
          </a:p>
        </p:txBody>
      </p:sp>
      <p:pic>
        <p:nvPicPr>
          <p:cNvPr id="140" name="Google Shape;140;p22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2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6127250" y="364350"/>
            <a:ext cx="18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Domain Class Model</a:t>
            </a:r>
            <a:endParaRPr sz="2700"/>
          </a:p>
        </p:txBody>
      </p:sp>
      <p:pic>
        <p:nvPicPr>
          <p:cNvPr id="144" name="Google Shape;144;p22" title="Screenshot 2025-04-30 1050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25" y="1430629"/>
            <a:ext cx="3943782" cy="335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253500" y="3575300"/>
            <a:ext cx="86058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The state machine diagram helps visualize the different states that the system can be in. </a:t>
            </a:r>
            <a:r>
              <a:rPr lang="en" sz="1900"/>
              <a:t>Additionally</a:t>
            </a:r>
            <a:r>
              <a:rPr lang="en" sz="1900"/>
              <a:t>, this shows the relationship between each state.</a:t>
            </a:r>
            <a:endParaRPr sz="1900"/>
          </a:p>
        </p:txBody>
      </p:sp>
      <p:pic>
        <p:nvPicPr>
          <p:cNvPr id="150" name="Google Shape;150;p23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5822450" y="364350"/>
            <a:ext cx="269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State Machine Diagram</a:t>
            </a:r>
            <a:endParaRPr sz="2700"/>
          </a:p>
        </p:txBody>
      </p:sp>
      <p:pic>
        <p:nvPicPr>
          <p:cNvPr id="154" name="Google Shape;154;p23" title="Screenshot 2025-04-30 1200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1470454"/>
            <a:ext cx="741997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5836200" y="521700"/>
            <a:ext cx="2535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Activity Diagram </a:t>
            </a:r>
            <a:endParaRPr sz="2400"/>
          </a:p>
        </p:txBody>
      </p:sp>
      <p:pic>
        <p:nvPicPr>
          <p:cNvPr id="163" name="Google Shape;163;p24" title="Screenshot 2025-04-30 1058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888" y="1441800"/>
            <a:ext cx="3286217" cy="33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4632900" y="1694650"/>
            <a:ext cx="3286200" cy="26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The activity diagram is to help visualize the flow of </a:t>
            </a:r>
            <a:r>
              <a:rPr lang="en" sz="2200"/>
              <a:t>activities</a:t>
            </a:r>
            <a:r>
              <a:rPr lang="en" sz="2200"/>
              <a:t> in the system presented. The flow of direction is shown with the arrows.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5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5379000" y="293100"/>
            <a:ext cx="34344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System Sequence Diagram for Admins and Students</a:t>
            </a:r>
            <a:endParaRPr sz="2400"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222275" y="4192575"/>
            <a:ext cx="3286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lang="en" sz="1917"/>
              <a:t>Student </a:t>
            </a:r>
            <a:r>
              <a:rPr lang="en" sz="1917"/>
              <a:t>Sequence Diagram</a:t>
            </a:r>
            <a:endParaRPr sz="1917"/>
          </a:p>
        </p:txBody>
      </p:sp>
      <p:pic>
        <p:nvPicPr>
          <p:cNvPr id="174" name="Google Shape;174;p25" title="Screenshot 2025-04-30 1153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18054"/>
            <a:ext cx="4434338" cy="314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 title="Screenshot 2025-04-30 1153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9138" y="1699054"/>
            <a:ext cx="4252461" cy="256971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726475" y="4383950"/>
            <a:ext cx="3286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lang="en" sz="1917"/>
              <a:t>Admin </a:t>
            </a:r>
            <a:r>
              <a:rPr lang="en" sz="1917"/>
              <a:t>Sequence Diagram</a:t>
            </a:r>
            <a:endParaRPr sz="191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311700" y="1649800"/>
            <a:ext cx="40437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CRUD matrix helps </a:t>
            </a:r>
            <a:r>
              <a:rPr lang="en" sz="1900"/>
              <a:t>visualize</a:t>
            </a:r>
            <a:r>
              <a:rPr lang="en" sz="1900"/>
              <a:t> the </a:t>
            </a:r>
            <a:r>
              <a:rPr lang="en" sz="1900"/>
              <a:t>activities</a:t>
            </a:r>
            <a:r>
              <a:rPr lang="en" sz="1900"/>
              <a:t> and permissions within a system. 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 -&gt; Create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 -&gt; Read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 -&gt; Update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 -&gt; Delete</a:t>
            </a:r>
            <a:endParaRPr sz="1900"/>
          </a:p>
        </p:txBody>
      </p:sp>
      <p:pic>
        <p:nvPicPr>
          <p:cNvPr id="182" name="Google Shape;182;p26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6127250" y="516750"/>
            <a:ext cx="18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CRUD Matrix</a:t>
            </a:r>
            <a:endParaRPr sz="2700"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4200" y="1516225"/>
            <a:ext cx="5032499" cy="236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5823850" y="445025"/>
            <a:ext cx="30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of Interest</a:t>
            </a:r>
            <a:endParaRPr/>
          </a:p>
        </p:txBody>
      </p:sp>
      <p:pic>
        <p:nvPicPr>
          <p:cNvPr id="192" name="Google Shape;192;p27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9" y="1592049"/>
            <a:ext cx="8073851" cy="28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7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159300" y="1573600"/>
            <a:ext cx="85206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100"/>
              <a:t>Environment Description</a:t>
            </a:r>
            <a:endParaRPr sz="2100"/>
          </a:p>
          <a:p>
            <a:pPr indent="-3619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Relevant stakeholders: students, faculty, UNA I.T. department, and bus driver(s)</a:t>
            </a:r>
            <a:endParaRPr sz="2100"/>
          </a:p>
          <a:p>
            <a:pPr indent="-3619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Students/Faculty: need to expect reliable, easy-to-use, and </a:t>
            </a:r>
            <a:r>
              <a:rPr lang="en" sz="2100"/>
              <a:t>efficient</a:t>
            </a:r>
            <a:r>
              <a:rPr lang="en" sz="2100"/>
              <a:t> way of transportations</a:t>
            </a:r>
            <a:endParaRPr sz="2100"/>
          </a:p>
          <a:p>
            <a:pPr indent="-3619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UNA I.T. Department: conduct maintenance for the GPS hardware and system application</a:t>
            </a:r>
            <a:endParaRPr sz="2100"/>
          </a:p>
          <a:p>
            <a:pPr indent="-3619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Bus Driver(s): </a:t>
            </a:r>
            <a:r>
              <a:rPr lang="en" sz="2100"/>
              <a:t>effectively</a:t>
            </a:r>
            <a:r>
              <a:rPr lang="en" sz="2100"/>
              <a:t> transport passengers and handle the system on the bus(es)</a:t>
            </a:r>
            <a:endParaRPr sz="2100"/>
          </a:p>
        </p:txBody>
      </p:sp>
      <p:pic>
        <p:nvPicPr>
          <p:cNvPr id="201" name="Google Shape;201;p28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04" name="Google Shape;204;p28"/>
          <p:cNvSpPr txBox="1"/>
          <p:nvPr>
            <p:ph type="title"/>
          </p:nvPr>
        </p:nvSpPr>
        <p:spPr>
          <a:xfrm>
            <a:off x="5814975" y="592950"/>
            <a:ext cx="279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Preliminary Design</a:t>
            </a:r>
            <a:endParaRPr sz="2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9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6355850" y="440550"/>
            <a:ext cx="234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Database Design</a:t>
            </a:r>
            <a:endParaRPr sz="2700"/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3013" y="1318054"/>
            <a:ext cx="5137963" cy="335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0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0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21" name="Google Shape;221;p30"/>
          <p:cNvSpPr txBox="1"/>
          <p:nvPr>
            <p:ph type="title"/>
          </p:nvPr>
        </p:nvSpPr>
        <p:spPr>
          <a:xfrm>
            <a:off x="5595400" y="304800"/>
            <a:ext cx="31608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Software Classes and Methods</a:t>
            </a:r>
            <a:endParaRPr sz="2700"/>
          </a:p>
        </p:txBody>
      </p:sp>
      <p:pic>
        <p:nvPicPr>
          <p:cNvPr id="222" name="Google Shape;222;p30" title="Screenshot 2025-04-30 1155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1386600"/>
            <a:ext cx="5991949" cy="33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1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30" name="Google Shape;230;p31"/>
          <p:cNvSpPr txBox="1"/>
          <p:nvPr>
            <p:ph type="title"/>
          </p:nvPr>
        </p:nvSpPr>
        <p:spPr>
          <a:xfrm>
            <a:off x="5267625" y="73400"/>
            <a:ext cx="387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Application Components</a:t>
            </a:r>
            <a:endParaRPr sz="3200"/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5527375" y="745350"/>
            <a:ext cx="337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Package Diagram</a:t>
            </a:r>
            <a:endParaRPr sz="2700"/>
          </a:p>
        </p:txBody>
      </p:sp>
      <p:pic>
        <p:nvPicPr>
          <p:cNvPr id="232" name="Google Shape;232;p31" title="Screenshot 2025-04-30 1026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225" y="1421025"/>
            <a:ext cx="3742175" cy="16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 title="Screenshot 2025-04-30 1026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852200"/>
            <a:ext cx="4226750" cy="230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 title="Screenshot 2025-04-30 10262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164" y="3297727"/>
            <a:ext cx="3876300" cy="1309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idx="1" type="body"/>
          </p:nvPr>
        </p:nvSpPr>
        <p:spPr>
          <a:xfrm>
            <a:off x="311700" y="1497400"/>
            <a:ext cx="8520600" cy="31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Key Components: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User browser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Smartphones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Hosts UI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Business Logic </a:t>
            </a:r>
            <a:r>
              <a:rPr lang="en" sz="1900"/>
              <a:t>Components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Central Databases</a:t>
            </a:r>
            <a:endParaRPr sz="1900"/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1900"/>
              <a:t>Used for shuttle(s), users, and GPS data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Possible bought </a:t>
            </a:r>
            <a:r>
              <a:rPr lang="en" sz="1900"/>
              <a:t>products</a:t>
            </a:r>
            <a:r>
              <a:rPr lang="en" sz="1900"/>
              <a:t> include: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GPS data provider, map and route services, authentication system, and application hosting</a:t>
            </a:r>
            <a:endParaRPr sz="1900"/>
          </a:p>
        </p:txBody>
      </p:sp>
      <p:pic>
        <p:nvPicPr>
          <p:cNvPr id="240" name="Google Shape;240;p32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5508325" y="304800"/>
            <a:ext cx="33645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Design Application Component </a:t>
            </a:r>
            <a:r>
              <a:rPr lang="en" sz="2700"/>
              <a:t>Description</a:t>
            </a:r>
            <a:endParaRPr sz="2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1610275" y="4409075"/>
            <a:ext cx="2634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lang="en" sz="1917"/>
              <a:t>Component Diagram</a:t>
            </a:r>
            <a:endParaRPr sz="1917"/>
          </a:p>
        </p:txBody>
      </p:sp>
      <p:pic>
        <p:nvPicPr>
          <p:cNvPr id="249" name="Google Shape;249;p33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3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5267625" y="73400"/>
            <a:ext cx="387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Application Components</a:t>
            </a:r>
            <a:endParaRPr sz="3200"/>
          </a:p>
        </p:txBody>
      </p:sp>
      <p:sp>
        <p:nvSpPr>
          <p:cNvPr id="253" name="Google Shape;253;p33"/>
          <p:cNvSpPr txBox="1"/>
          <p:nvPr>
            <p:ph type="title"/>
          </p:nvPr>
        </p:nvSpPr>
        <p:spPr>
          <a:xfrm>
            <a:off x="5527375" y="592950"/>
            <a:ext cx="3377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Component and Deployment Diagrams</a:t>
            </a:r>
            <a:endParaRPr sz="2700"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5820325" y="4295150"/>
            <a:ext cx="2791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lang="en" sz="1917"/>
              <a:t>Deployment Diagram</a:t>
            </a:r>
            <a:endParaRPr sz="1917"/>
          </a:p>
        </p:txBody>
      </p:sp>
      <p:pic>
        <p:nvPicPr>
          <p:cNvPr id="255" name="Google Shape;255;p33" title="Screenshot 2025-04-30 1020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584379"/>
            <a:ext cx="4392953" cy="2824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3" title="Screenshot 2025-04-30 1020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9878" y="1955250"/>
            <a:ext cx="3181648" cy="23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311700" y="1649800"/>
            <a:ext cx="85206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Net present value (NPV) charts helps a team be able to visualize whether their project or system will be profitable over time.</a:t>
            </a:r>
            <a:endParaRPr sz="1900"/>
          </a:p>
        </p:txBody>
      </p:sp>
      <p:pic>
        <p:nvPicPr>
          <p:cNvPr id="262" name="Google Shape;262;p34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4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65" name="Google Shape;265;p34"/>
          <p:cNvSpPr txBox="1"/>
          <p:nvPr>
            <p:ph type="title"/>
          </p:nvPr>
        </p:nvSpPr>
        <p:spPr>
          <a:xfrm>
            <a:off x="5873750" y="745350"/>
            <a:ext cx="317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Net Present Value</a:t>
            </a:r>
            <a:endParaRPr sz="2700"/>
          </a:p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5475600" y="149600"/>
            <a:ext cx="343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Project Management:</a:t>
            </a:r>
            <a:endParaRPr sz="3200"/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50" y="2706225"/>
            <a:ext cx="8948099" cy="91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311700" y="1649800"/>
            <a:ext cx="85206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A payback period chart represents how quickly a project or system will recover from the </a:t>
            </a:r>
            <a:r>
              <a:rPr lang="en" sz="1900"/>
              <a:t>initial</a:t>
            </a:r>
            <a:r>
              <a:rPr lang="en" sz="1900"/>
              <a:t> costs.</a:t>
            </a:r>
            <a:endParaRPr sz="1900"/>
          </a:p>
        </p:txBody>
      </p:sp>
      <p:pic>
        <p:nvPicPr>
          <p:cNvPr id="273" name="Google Shape;273;p35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5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76" name="Google Shape;276;p35"/>
          <p:cNvSpPr txBox="1"/>
          <p:nvPr>
            <p:ph type="title"/>
          </p:nvPr>
        </p:nvSpPr>
        <p:spPr>
          <a:xfrm>
            <a:off x="6047100" y="798500"/>
            <a:ext cx="211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Payback Period</a:t>
            </a:r>
            <a:endParaRPr sz="2700"/>
          </a:p>
        </p:txBody>
      </p:sp>
      <p:sp>
        <p:nvSpPr>
          <p:cNvPr id="277" name="Google Shape;277;p35"/>
          <p:cNvSpPr txBox="1"/>
          <p:nvPr>
            <p:ph type="title"/>
          </p:nvPr>
        </p:nvSpPr>
        <p:spPr>
          <a:xfrm>
            <a:off x="5475600" y="149600"/>
            <a:ext cx="343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Project Management:</a:t>
            </a:r>
            <a:endParaRPr sz="3200"/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77" y="2720500"/>
            <a:ext cx="8520600" cy="65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311700" y="1649800"/>
            <a:ext cx="8520600" cy="30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Return on Investment (ROI) charts help to visualize the profit on systems and </a:t>
            </a:r>
            <a:r>
              <a:rPr lang="en" sz="1900"/>
              <a:t>projects</a:t>
            </a:r>
            <a:r>
              <a:rPr lang="en" sz="1900"/>
              <a:t>. This can help a team monitor </a:t>
            </a:r>
            <a:r>
              <a:rPr lang="en" sz="1900"/>
              <a:t>the</a:t>
            </a:r>
            <a:r>
              <a:rPr lang="en" sz="1900"/>
              <a:t> performance of their system or project.</a:t>
            </a:r>
            <a:endParaRPr sz="1900"/>
          </a:p>
        </p:txBody>
      </p:sp>
      <p:pic>
        <p:nvPicPr>
          <p:cNvPr id="284" name="Google Shape;284;p36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6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87" name="Google Shape;287;p36"/>
          <p:cNvSpPr txBox="1"/>
          <p:nvPr>
            <p:ph type="title"/>
          </p:nvPr>
        </p:nvSpPr>
        <p:spPr>
          <a:xfrm>
            <a:off x="5492750" y="669150"/>
            <a:ext cx="31731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Return On Investment Calculations</a:t>
            </a:r>
            <a:endParaRPr sz="2700"/>
          </a:p>
        </p:txBody>
      </p:sp>
      <p:sp>
        <p:nvSpPr>
          <p:cNvPr id="288" name="Google Shape;288;p36"/>
          <p:cNvSpPr txBox="1"/>
          <p:nvPr>
            <p:ph type="title"/>
          </p:nvPr>
        </p:nvSpPr>
        <p:spPr>
          <a:xfrm>
            <a:off x="5475600" y="149600"/>
            <a:ext cx="343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Project Management:</a:t>
            </a:r>
            <a:endParaRPr sz="3200"/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4525" y="2777213"/>
            <a:ext cx="367665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152400" y="1394250"/>
            <a:ext cx="8679900" cy="13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A PERT chart is to help the project team organize their tasks within a project with a timeline.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For this PERT, the critical path starts with the backend development.</a:t>
            </a:r>
            <a:endParaRPr sz="1900"/>
          </a:p>
        </p:txBody>
      </p:sp>
      <p:pic>
        <p:nvPicPr>
          <p:cNvPr id="295" name="Google Shape;295;p37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6178550" y="821550"/>
            <a:ext cx="171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PERT Chart</a:t>
            </a:r>
            <a:endParaRPr sz="2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5475600" y="149600"/>
            <a:ext cx="343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Project Management:</a:t>
            </a:r>
            <a:endParaRPr sz="3200"/>
          </a:p>
        </p:txBody>
      </p:sp>
      <p:pic>
        <p:nvPicPr>
          <p:cNvPr id="300" name="Google Shape;300;p37" title="Screenshot 2025-05-01 0801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57400"/>
            <a:ext cx="8756100" cy="20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318050"/>
            <a:ext cx="85206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While very similar, CPM charts have a more fixed time estimate than a PERT chart. The critical path is still the same as the PERT as it defines the minimum time required to finish the project.</a:t>
            </a:r>
            <a:endParaRPr sz="1900"/>
          </a:p>
        </p:txBody>
      </p:sp>
      <p:pic>
        <p:nvPicPr>
          <p:cNvPr id="306" name="Google Shape;306;p38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sp>
        <p:nvSpPr>
          <p:cNvPr id="309" name="Google Shape;309;p38"/>
          <p:cNvSpPr txBox="1"/>
          <p:nvPr>
            <p:ph type="title"/>
          </p:nvPr>
        </p:nvSpPr>
        <p:spPr>
          <a:xfrm>
            <a:off x="6254750" y="745350"/>
            <a:ext cx="171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CPM </a:t>
            </a:r>
            <a:r>
              <a:rPr lang="en" sz="2700"/>
              <a:t>Chart</a:t>
            </a:r>
            <a:endParaRPr sz="2700"/>
          </a:p>
        </p:txBody>
      </p:sp>
      <p:sp>
        <p:nvSpPr>
          <p:cNvPr id="310" name="Google Shape;310;p38"/>
          <p:cNvSpPr txBox="1"/>
          <p:nvPr>
            <p:ph type="title"/>
          </p:nvPr>
        </p:nvSpPr>
        <p:spPr>
          <a:xfrm>
            <a:off x="5475600" y="149600"/>
            <a:ext cx="343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/>
              <a:t>Project Management:</a:t>
            </a:r>
            <a:endParaRPr sz="3200"/>
          </a:p>
        </p:txBody>
      </p:sp>
      <p:pic>
        <p:nvPicPr>
          <p:cNvPr id="311" name="Google Shape;311;p38" title="Screenshot 2025-05-01 0811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27300"/>
            <a:ext cx="8894301" cy="23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5784775" y="592950"/>
            <a:ext cx="29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/>
              <a:t>Mockup of Prototype</a:t>
            </a:r>
            <a:endParaRPr sz="2700"/>
          </a:p>
        </p:txBody>
      </p:sp>
      <p:pic>
        <p:nvPicPr>
          <p:cNvPr id="317" name="Google Shape;317;p39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39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  <p:pic>
        <p:nvPicPr>
          <p:cNvPr id="320" name="Google Shape;320;p39" title="Screenshot 2025-04-30 1005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875" y="1333100"/>
            <a:ext cx="3576250" cy="36730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>
            <p:ph idx="1" type="body"/>
          </p:nvPr>
        </p:nvSpPr>
        <p:spPr>
          <a:xfrm>
            <a:off x="311700" y="1649800"/>
            <a:ext cx="41574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Left side shows the admin’s view of their allowed tools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Right side shows what the user will see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Lower-right shows what it is like to create a stop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6390100" y="592950"/>
            <a:ext cx="181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Conclusion</a:t>
            </a:r>
            <a:endParaRPr sz="2700"/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311700" y="1325775"/>
            <a:ext cx="8520600" cy="3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Goal: To create an efficient and effective way of transportation for the students and faculty around the University of North Alabama</a:t>
            </a:r>
            <a:endParaRPr sz="19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Future Work: To monitor the amount of use from the shuttles and continue to manage the maintenance. </a:t>
            </a:r>
            <a:endParaRPr sz="19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Lesson Learned: Designing and setting up a system requires more diagrams than imagined.</a:t>
            </a:r>
            <a:endParaRPr sz="19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Lesson Learned: It is important to get user feedback throughout the process so that improvements can be made for user satisfaction.</a:t>
            </a:r>
            <a:endParaRPr sz="1900"/>
          </a:p>
        </p:txBody>
      </p:sp>
      <p:pic>
        <p:nvPicPr>
          <p:cNvPr id="328" name="Google Shape;328;p40" title="UNA-Logo-Long-Gold-White-w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4"/>
            <a:ext cx="4940749" cy="10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0"/>
          <p:cNvSpPr txBox="1"/>
          <p:nvPr>
            <p:ph type="title"/>
          </p:nvPr>
        </p:nvSpPr>
        <p:spPr>
          <a:xfrm>
            <a:off x="0" y="4827800"/>
            <a:ext cx="415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00"/>
              <a:t>Olivia Sharpston, Christian Miller, Nolen Robinson, Jacobe Johnson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