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5143500" cx="9144000"/>
  <p:notesSz cx="6858000" cy="9144000"/>
  <p:embeddedFontLst>
    <p:embeddedFont>
      <p:font typeface="Playfair Display"/>
      <p:regular r:id="rId36"/>
      <p:bold r:id="rId37"/>
      <p:italic r:id="rId38"/>
      <p:boldItalic r:id="rId39"/>
    </p:embeddedFont>
    <p:embeddedFont>
      <p:font typeface="Montserrat"/>
      <p:regular r:id="rId40"/>
      <p:bold r:id="rId41"/>
      <p:italic r:id="rId42"/>
      <p:boldItalic r:id="rId43"/>
    </p:embeddedFont>
    <p:embeddedFont>
      <p:font typeface="Oswald"/>
      <p:regular r:id="rId44"/>
      <p:bold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Olivia Sharpston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-regular.fntdata"/><Relationship Id="rId20" Type="http://schemas.openxmlformats.org/officeDocument/2006/relationships/slide" Target="slides/slide14.xml"/><Relationship Id="rId42" Type="http://schemas.openxmlformats.org/officeDocument/2006/relationships/font" Target="fonts/Montserrat-italic.fntdata"/><Relationship Id="rId41" Type="http://schemas.openxmlformats.org/officeDocument/2006/relationships/font" Target="fonts/Montserrat-bold.fntdata"/><Relationship Id="rId22" Type="http://schemas.openxmlformats.org/officeDocument/2006/relationships/slide" Target="slides/slide16.xml"/><Relationship Id="rId44" Type="http://schemas.openxmlformats.org/officeDocument/2006/relationships/font" Target="fonts/Oswald-regular.fntdata"/><Relationship Id="rId21" Type="http://schemas.openxmlformats.org/officeDocument/2006/relationships/slide" Target="slides/slide15.xml"/><Relationship Id="rId43" Type="http://schemas.openxmlformats.org/officeDocument/2006/relationships/font" Target="fonts/Montserrat-boldItalic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45" Type="http://schemas.openxmlformats.org/officeDocument/2006/relationships/font" Target="fonts/Oswal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font" Target="fonts/PlayfairDisplay-bold.fntdata"/><Relationship Id="rId14" Type="http://schemas.openxmlformats.org/officeDocument/2006/relationships/slide" Target="slides/slide8.xml"/><Relationship Id="rId36" Type="http://schemas.openxmlformats.org/officeDocument/2006/relationships/font" Target="fonts/PlayfairDisplay-regular.fntdata"/><Relationship Id="rId17" Type="http://schemas.openxmlformats.org/officeDocument/2006/relationships/slide" Target="slides/slide11.xml"/><Relationship Id="rId39" Type="http://schemas.openxmlformats.org/officeDocument/2006/relationships/font" Target="fonts/PlayfairDisplay-boldItalic.fntdata"/><Relationship Id="rId16" Type="http://schemas.openxmlformats.org/officeDocument/2006/relationships/slide" Target="slides/slide10.xml"/><Relationship Id="rId38" Type="http://schemas.openxmlformats.org/officeDocument/2006/relationships/font" Target="fonts/PlayfairDisplay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04-30T14:20:15.212">
    <p:pos x="196" y="777"/>
    <p:text>need to come up with a reasonable amount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1eeaf0df8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1eeaf0df8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51eeaf0df8_0_8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51eeaf0df8_0_8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51eeaf0df8_0_8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51eeaf0df8_0_8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51eeaf0df8_0_8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51eeaf0df8_0_8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51eeaf0df8_0_8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51eeaf0df8_0_8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51eeaf0df8_0_8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51eeaf0df8_0_8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51eeaf0df8_1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51eeaf0df8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51eeaf0df8_1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51eeaf0df8_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51eeaf0df8_1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51eeaf0df8_1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51eeaf0df8_1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51eeaf0df8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51eeaf0df8_1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51eeaf0df8_1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51eeaf0df8_1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51eeaf0df8_1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51eeaf0df8_1_1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51eeaf0df8_1_1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51eeaf0df8_0_8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51eeaf0df8_0_8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51eeaf0df8_1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51eeaf0df8_1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51eeaf0df8_1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51eeaf0df8_1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51eeaf0df8_1_2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51eeaf0df8_1_2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51eeaf0df8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51eeaf0df8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51eeaf0df8_1_1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51eeaf0df8_1_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51eeaf0df8_1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51eeaf0df8_1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51eeaf0df8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51eeaf0df8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51eeaf0df8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51eeaf0df8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51eeaf0df8_1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51eeaf0df8_1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51eeaf0df8_1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51eeaf0df8_1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51eeaf0df8_1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51eeaf0df8_1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51eeaf0df8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51eeaf0df8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51eeaf0df8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51eeaf0df8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51eeaf0df8_1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51eeaf0df8_1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rgbClr val="674EA7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4286250" y="0"/>
            <a:ext cx="723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4358475" y="0"/>
            <a:ext cx="3853200" cy="5143500"/>
          </a:xfrm>
          <a:prstGeom prst="rect">
            <a:avLst/>
          </a:prstGeom>
          <a:solidFill>
            <a:srgbClr val="BF9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44250" y="1403850"/>
            <a:ext cx="8455500" cy="21468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b="1" sz="6800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b="1" sz="6800"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b="1" sz="6800"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b="1" sz="6800"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b="1" sz="6800"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b="1" sz="6800"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b="1" sz="6800"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b="1" sz="6800"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b="1" sz="6800"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44250" y="3550650"/>
            <a:ext cx="4910100" cy="577800"/>
          </a:xfrm>
          <a:prstGeom prst="rect">
            <a:avLst/>
          </a:prstGeom>
          <a:solidFill>
            <a:schemeClr val="dk2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b="1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b="1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b="1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b="1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b="1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b="1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b="1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b="1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b="1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rot="5400000">
            <a:off x="4550700" y="-498600"/>
            <a:ext cx="42600" cy="845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44250" y="1403850"/>
            <a:ext cx="8455500" cy="21468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b="1" sz="4800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b="1" sz="4800"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b="1" sz="4800"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b="1" sz="4800"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b="1" sz="4800"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b="1" sz="4800"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b="1" sz="4800"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b="1" sz="4800"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b="1" sz="4800"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5823850" y="445025"/>
            <a:ext cx="3008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234050"/>
            <a:ext cx="3999900" cy="33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234050"/>
            <a:ext cx="3999900" cy="33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081675"/>
            <a:ext cx="4045200" cy="178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9214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highlight>
                  <a:schemeClr val="dk1"/>
                </a:highlight>
              </a:defRPr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/>
          <p:nvPr>
            <p:ph hasCustomPrompt="1" type="title"/>
          </p:nvPr>
        </p:nvSpPr>
        <p:spPr>
          <a:xfrm>
            <a:off x="311700" y="999925"/>
            <a:ext cx="8520600" cy="214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t>xx%</a:t>
            </a:r>
          </a:p>
        </p:txBody>
      </p:sp>
      <p:sp>
        <p:nvSpPr>
          <p:cNvPr id="50" name="Google Shape;50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51" name="Google Shape;51;p1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op">
    <p:bg>
      <p:bgPr>
        <a:solidFill>
          <a:srgbClr val="674EA7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rgbClr val="F1C232"/>
                </a:highlight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rgbClr val="F1C232"/>
                </a:highlight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rgbClr val="F1C232"/>
                </a:highlight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rgbClr val="F1C232"/>
                </a:highlight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rgbClr val="F1C232"/>
                </a:highlight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rgbClr val="F1C232"/>
                </a:highlight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rgbClr val="F1C232"/>
                </a:highlight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rgbClr val="F1C232"/>
                </a:highlight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rgbClr val="F1C232"/>
                </a:highlight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Char char="●"/>
              <a:defRPr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ayfair Display"/>
              <a:buChar char="○"/>
              <a:defRPr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ayfair Display"/>
              <a:buChar char="■"/>
              <a:defRPr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ayfair Display"/>
              <a:buChar char="●"/>
              <a:defRPr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ayfair Display"/>
              <a:buChar char="○"/>
              <a:defRPr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ayfair Display"/>
              <a:buChar char="■"/>
              <a:defRPr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ayfair Display"/>
              <a:buChar char="●"/>
              <a:defRPr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ayfair Display"/>
              <a:buChar char="○"/>
              <a:defRPr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ayfair Display"/>
              <a:buChar char="■"/>
              <a:defRPr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omments" Target="../comments/comment1.xml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image" Target="../media/image2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1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Relationship Id="rId4" Type="http://schemas.openxmlformats.org/officeDocument/2006/relationships/image" Target="../media/image2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Relationship Id="rId4" Type="http://schemas.openxmlformats.org/officeDocument/2006/relationships/image" Target="../media/image1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ctrTitle"/>
          </p:nvPr>
        </p:nvSpPr>
        <p:spPr>
          <a:xfrm>
            <a:off x="344250" y="1403850"/>
            <a:ext cx="8455500" cy="214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/>
              <a:t>Development of a Bus System for the University of North Alabama</a:t>
            </a:r>
            <a:endParaRPr sz="3500"/>
          </a:p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344250" y="3557775"/>
            <a:ext cx="4910100" cy="9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7"/>
              <a:t>By: Olivia Sharpston, Christian Miller, Nolen Robinson, and Jacobe Johnson</a:t>
            </a:r>
            <a:endParaRPr sz="5507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7"/>
              <a:t>Professor: Dr. Ron Davis</a:t>
            </a:r>
            <a:endParaRPr sz="5507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7"/>
              <a:t>April 30, 2025</a:t>
            </a:r>
            <a:endParaRPr sz="5507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0" name="Google Shape;60;p13" title="UNA-roundLionGold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75825" y="2982975"/>
            <a:ext cx="2091976" cy="20676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/>
          <p:nvPr>
            <p:ph type="title"/>
          </p:nvPr>
        </p:nvSpPr>
        <p:spPr>
          <a:xfrm>
            <a:off x="5823850" y="445025"/>
            <a:ext cx="3008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4500">
                <a:solidFill>
                  <a:schemeClr val="lt1"/>
                </a:solidFill>
              </a:rPr>
              <a:t>Outline:</a:t>
            </a:r>
            <a:endParaRPr sz="4500">
              <a:solidFill>
                <a:schemeClr val="lt1"/>
              </a:solidFill>
            </a:endParaRPr>
          </a:p>
        </p:txBody>
      </p:sp>
      <p:sp>
        <p:nvSpPr>
          <p:cNvPr id="67" name="Google Shape;67;p14"/>
          <p:cNvSpPr txBox="1"/>
          <p:nvPr>
            <p:ph idx="1" type="body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Problem</a:t>
            </a:r>
            <a:r>
              <a:rPr lang="en" sz="2200"/>
              <a:t> Statement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Feasibility</a:t>
            </a:r>
            <a:r>
              <a:rPr lang="en" sz="2200"/>
              <a:t> Study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Brief Review of Requirements Analysis and Specification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Preliminary De</a:t>
            </a:r>
            <a:r>
              <a:rPr lang="en" sz="2200"/>
              <a:t>sign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Detailed Design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Project Management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Mockup of Prototype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Conclusion</a:t>
            </a:r>
            <a:endParaRPr sz="2200"/>
          </a:p>
        </p:txBody>
      </p:sp>
      <p:pic>
        <p:nvPicPr>
          <p:cNvPr id="68" name="Google Shape;68;p14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0" name="Google Shape;70;p14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5823850" y="445025"/>
            <a:ext cx="3008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Statement</a:t>
            </a:r>
            <a:endParaRPr/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The University of North Alabama Transportation</a:t>
            </a:r>
            <a:endParaRPr sz="23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Not an efficient way of transportation around campus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‘Lion’s Lift’ ended in August 2023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Current campus transportation information known information is outdated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‘Slidr’ is an outdated and no longer used service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Limited parking near campus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Time gap between classes is typically 10 to 15 minutes</a:t>
            </a:r>
            <a:endParaRPr sz="1900"/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May be difficult if class is completely across campus</a:t>
            </a:r>
            <a:endParaRPr sz="1900"/>
          </a:p>
        </p:txBody>
      </p:sp>
      <p:pic>
        <p:nvPicPr>
          <p:cNvPr id="77" name="Google Shape;77;p15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5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5823850" y="445025"/>
            <a:ext cx="3008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Feasibility</a:t>
            </a:r>
            <a:r>
              <a:rPr lang="en"/>
              <a:t> Study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1900"/>
              <a:t>This </a:t>
            </a:r>
            <a:r>
              <a:rPr lang="en" sz="1900"/>
              <a:t>would</a:t>
            </a:r>
            <a:r>
              <a:rPr lang="en" sz="1900"/>
              <a:t> be economically feasible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Many students do not have a way of transportation</a:t>
            </a:r>
            <a:endParaRPr sz="1900"/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Will likely increase with current economy</a:t>
            </a:r>
            <a:endParaRPr sz="1900"/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Would lead to higher rate of public transportation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 system would be ran by the </a:t>
            </a:r>
            <a:r>
              <a:rPr lang="en" sz="1900"/>
              <a:t>University</a:t>
            </a:r>
            <a:r>
              <a:rPr lang="en" sz="1900"/>
              <a:t> of North Alabama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Becomes a safer way of transportation for students</a:t>
            </a:r>
            <a:endParaRPr sz="1900"/>
          </a:p>
        </p:txBody>
      </p:sp>
      <p:pic>
        <p:nvPicPr>
          <p:cNvPr id="86" name="Google Shape;86;p16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" name="Google Shape;88;p16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type="title"/>
          </p:nvPr>
        </p:nvSpPr>
        <p:spPr>
          <a:xfrm>
            <a:off x="5300325" y="140225"/>
            <a:ext cx="3843600" cy="14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Brief Review of Requirements Analysis and Specification</a:t>
            </a:r>
            <a:endParaRPr sz="2700"/>
          </a:p>
        </p:txBody>
      </p:sp>
      <p:sp>
        <p:nvSpPr>
          <p:cNvPr id="94" name="Google Shape;94;p17"/>
          <p:cNvSpPr txBox="1"/>
          <p:nvPr>
            <p:ph idx="1" type="body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1900"/>
              <a:t>Functional Requirements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Shall creates wait time for buses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Shall does not bring in data from 17:00 CST to 6:00 CST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Shall call </a:t>
            </a:r>
            <a:r>
              <a:rPr lang="en" sz="1900"/>
              <a:t>location</a:t>
            </a:r>
            <a:r>
              <a:rPr lang="en" sz="1900"/>
              <a:t> API every sixty seconds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Shall integrate with back-end system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Operational Requirements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Should not be more than $35,000 U.S. dollars to develop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Should not cost more than $5,000 U.S. dollars per year to operate</a:t>
            </a:r>
            <a:endParaRPr sz="1900"/>
          </a:p>
        </p:txBody>
      </p:sp>
      <p:pic>
        <p:nvPicPr>
          <p:cNvPr id="95" name="Google Shape;95;p17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7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7" name="Google Shape;97;p17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>
            <p:ph type="title"/>
          </p:nvPr>
        </p:nvSpPr>
        <p:spPr>
          <a:xfrm>
            <a:off x="5419425" y="216425"/>
            <a:ext cx="3724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Brief Review of Requirements Analysis and Specification</a:t>
            </a:r>
            <a:endParaRPr sz="2700"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1900"/>
              <a:t>Maintenance and Support Requirements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Shall have an annual uptime of 95%</a:t>
            </a:r>
            <a:endParaRPr sz="1900"/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Downtime average of 18.25 days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Shall automatically checks for necessary updates daily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Shall automatically download and install required updates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</a:pPr>
            <a:r>
              <a:rPr lang="en" sz="1900">
                <a:solidFill>
                  <a:schemeClr val="dk2"/>
                </a:solidFill>
                <a:highlight>
                  <a:srgbClr val="FFFF00"/>
                </a:highlight>
              </a:rPr>
              <a:t>Shall not cost for than $ 20,000 U.S. dollars to dispose</a:t>
            </a:r>
            <a:endParaRPr sz="1900">
              <a:solidFill>
                <a:schemeClr val="dk2"/>
              </a:solidFill>
              <a:highlight>
                <a:srgbClr val="FFFF00"/>
              </a:highlight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Other Specifications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The UNA Transportation I.T. Specialists maintain the system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The system is started by the shuttle bus driver</a:t>
            </a:r>
            <a:endParaRPr sz="1900"/>
          </a:p>
        </p:txBody>
      </p:sp>
      <p:pic>
        <p:nvPicPr>
          <p:cNvPr id="104" name="Google Shape;104;p18" title="UNA-Logo-Long-Gold-White-web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6" name="Google Shape;106;p18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5931350" y="292625"/>
            <a:ext cx="2718000" cy="10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500"/>
              <a:t>GPS Subsystem and Other</a:t>
            </a:r>
            <a:r>
              <a:rPr lang="en" sz="2500"/>
              <a:t> Specifications</a:t>
            </a:r>
            <a:endParaRPr sz="2500"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0" y="1345000"/>
            <a:ext cx="91440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1900"/>
              <a:t>Who uses the system?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Students, faculty, a GPS </a:t>
            </a:r>
            <a:r>
              <a:rPr lang="en" sz="1900"/>
              <a:t>receiver</a:t>
            </a:r>
            <a:r>
              <a:rPr lang="en" sz="1900"/>
              <a:t> program on the internet, and the end user’s device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Who installs </a:t>
            </a:r>
            <a:r>
              <a:rPr lang="en" sz="1900"/>
              <a:t>the</a:t>
            </a:r>
            <a:r>
              <a:rPr lang="en" sz="1900"/>
              <a:t> GPS subsystem? 	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The system is web based but has a local installation on the shuttles’ GPS transmitter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What other systems interface with the system?	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GPS transmitter hardware, shuttles’ localized network, online-hosted GPS system, and end user’s device (where it is displayed)</a:t>
            </a:r>
            <a:endParaRPr sz="1900"/>
          </a:p>
        </p:txBody>
      </p:sp>
      <p:pic>
        <p:nvPicPr>
          <p:cNvPr id="113" name="Google Shape;113;p19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5" name="Google Shape;115;p19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20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0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2" name="Google Shape;122;p20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123" name="Google Shape;123;p20"/>
          <p:cNvSpPr txBox="1"/>
          <p:nvPr>
            <p:ph type="title"/>
          </p:nvPr>
        </p:nvSpPr>
        <p:spPr>
          <a:xfrm>
            <a:off x="6355850" y="592950"/>
            <a:ext cx="1852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Use Cases</a:t>
            </a:r>
            <a:endParaRPr sz="2700"/>
          </a:p>
        </p:txBody>
      </p:sp>
      <p:pic>
        <p:nvPicPr>
          <p:cNvPr id="124" name="Google Shape;124;p20" title="Screenshot 2025-04-30 10454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7725" y="1461313"/>
            <a:ext cx="7248525" cy="319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1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1" name="Google Shape;131;p21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132" name="Google Shape;132;p21"/>
          <p:cNvSpPr txBox="1"/>
          <p:nvPr>
            <p:ph type="title"/>
          </p:nvPr>
        </p:nvSpPr>
        <p:spPr>
          <a:xfrm>
            <a:off x="5686075" y="516750"/>
            <a:ext cx="3236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Actors for the System</a:t>
            </a:r>
            <a:endParaRPr sz="2700"/>
          </a:p>
        </p:txBody>
      </p:sp>
      <p:pic>
        <p:nvPicPr>
          <p:cNvPr id="133" name="Google Shape;133;p21" title="Screenshot 2025-04-30 10444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5388" y="1318054"/>
            <a:ext cx="4414778" cy="335734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1"/>
          <p:cNvSpPr txBox="1"/>
          <p:nvPr>
            <p:ph idx="1" type="body"/>
          </p:nvPr>
        </p:nvSpPr>
        <p:spPr>
          <a:xfrm>
            <a:off x="5093150" y="1394250"/>
            <a:ext cx="3739200" cy="27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100"/>
              <a:t>Determining</a:t>
            </a:r>
            <a:r>
              <a:rPr lang="en" sz="2100"/>
              <a:t> the actors allows the relationship </a:t>
            </a:r>
            <a:r>
              <a:rPr lang="en" sz="2100"/>
              <a:t>between</a:t>
            </a:r>
            <a:r>
              <a:rPr lang="en" sz="2100"/>
              <a:t> he use cases and who is involved to be seen. Furthermore, this enhances the understand of how each actor </a:t>
            </a:r>
            <a:r>
              <a:rPr lang="en" sz="2100"/>
              <a:t>correlates</a:t>
            </a:r>
            <a:r>
              <a:rPr lang="en" sz="2100"/>
              <a:t> with a use case situation.</a:t>
            </a:r>
            <a:endParaRPr sz="2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>
            <p:ph idx="1" type="body"/>
          </p:nvPr>
        </p:nvSpPr>
        <p:spPr>
          <a:xfrm>
            <a:off x="5218700" y="1649800"/>
            <a:ext cx="3613500" cy="29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900"/>
              <a:t>By using a domain class model diagram, it is easier to see the relationships between the objects involved in the system. </a:t>
            </a:r>
            <a:endParaRPr sz="1900"/>
          </a:p>
        </p:txBody>
      </p:sp>
      <p:pic>
        <p:nvPicPr>
          <p:cNvPr id="140" name="Google Shape;140;p22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2" name="Google Shape;142;p22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143" name="Google Shape;143;p22"/>
          <p:cNvSpPr txBox="1"/>
          <p:nvPr>
            <p:ph type="title"/>
          </p:nvPr>
        </p:nvSpPr>
        <p:spPr>
          <a:xfrm>
            <a:off x="6127250" y="364350"/>
            <a:ext cx="1852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Domain Class Model</a:t>
            </a:r>
            <a:endParaRPr sz="2700"/>
          </a:p>
        </p:txBody>
      </p:sp>
      <p:pic>
        <p:nvPicPr>
          <p:cNvPr id="144" name="Google Shape;144;p22" title="Screenshot 2025-04-30 10501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0825" y="1430629"/>
            <a:ext cx="3943782" cy="33573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3"/>
          <p:cNvSpPr txBox="1"/>
          <p:nvPr>
            <p:ph idx="1" type="body"/>
          </p:nvPr>
        </p:nvSpPr>
        <p:spPr>
          <a:xfrm>
            <a:off x="253500" y="3575300"/>
            <a:ext cx="8605800" cy="125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900"/>
              <a:t>The state machine diagram helps visualize the different states that the system can be in. </a:t>
            </a:r>
            <a:r>
              <a:rPr lang="en" sz="1900"/>
              <a:t>Additionally</a:t>
            </a:r>
            <a:r>
              <a:rPr lang="en" sz="1900"/>
              <a:t>, this shows the relationship between each state.</a:t>
            </a:r>
            <a:endParaRPr sz="1900"/>
          </a:p>
        </p:txBody>
      </p:sp>
      <p:pic>
        <p:nvPicPr>
          <p:cNvPr id="150" name="Google Shape;150;p23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3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p23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153" name="Google Shape;153;p23"/>
          <p:cNvSpPr txBox="1"/>
          <p:nvPr>
            <p:ph type="title"/>
          </p:nvPr>
        </p:nvSpPr>
        <p:spPr>
          <a:xfrm>
            <a:off x="5822450" y="364350"/>
            <a:ext cx="2690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State Machine Diagram</a:t>
            </a:r>
            <a:endParaRPr sz="2700"/>
          </a:p>
        </p:txBody>
      </p:sp>
      <p:pic>
        <p:nvPicPr>
          <p:cNvPr id="154" name="Google Shape;154;p23" title="Screenshot 2025-04-30 12004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4400" y="1470454"/>
            <a:ext cx="7419975" cy="208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4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4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1" name="Google Shape;161;p24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162" name="Google Shape;162;p24"/>
          <p:cNvSpPr txBox="1"/>
          <p:nvPr>
            <p:ph type="title"/>
          </p:nvPr>
        </p:nvSpPr>
        <p:spPr>
          <a:xfrm>
            <a:off x="5836200" y="521700"/>
            <a:ext cx="2535600" cy="6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Activity Diagram </a:t>
            </a:r>
            <a:endParaRPr sz="2400"/>
          </a:p>
        </p:txBody>
      </p:sp>
      <p:pic>
        <p:nvPicPr>
          <p:cNvPr id="163" name="Google Shape;163;p24" title="Screenshot 2025-04-30 10581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41888" y="1441800"/>
            <a:ext cx="3286217" cy="33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4"/>
          <p:cNvSpPr txBox="1"/>
          <p:nvPr>
            <p:ph idx="1" type="body"/>
          </p:nvPr>
        </p:nvSpPr>
        <p:spPr>
          <a:xfrm>
            <a:off x="4632900" y="1694650"/>
            <a:ext cx="3286200" cy="26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/>
              <a:t>The activity diagram is to help visualize the flow of </a:t>
            </a:r>
            <a:r>
              <a:rPr lang="en" sz="2200"/>
              <a:t>activities</a:t>
            </a:r>
            <a:r>
              <a:rPr lang="en" sz="2200"/>
              <a:t> in the system presented. The flow of direction is shown with the arrows.</a:t>
            </a:r>
            <a:endParaRPr sz="22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25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5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1" name="Google Shape;171;p25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172" name="Google Shape;172;p25"/>
          <p:cNvSpPr txBox="1"/>
          <p:nvPr>
            <p:ph type="title"/>
          </p:nvPr>
        </p:nvSpPr>
        <p:spPr>
          <a:xfrm>
            <a:off x="5379000" y="293100"/>
            <a:ext cx="3434400" cy="86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System Sequence Diagram for Admins and Students</a:t>
            </a:r>
            <a:endParaRPr sz="2400"/>
          </a:p>
        </p:txBody>
      </p:sp>
      <p:sp>
        <p:nvSpPr>
          <p:cNvPr id="173" name="Google Shape;173;p25"/>
          <p:cNvSpPr txBox="1"/>
          <p:nvPr>
            <p:ph idx="1" type="body"/>
          </p:nvPr>
        </p:nvSpPr>
        <p:spPr>
          <a:xfrm>
            <a:off x="5222275" y="4192575"/>
            <a:ext cx="32862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358"/>
              <a:buNone/>
            </a:pPr>
            <a:r>
              <a:rPr lang="en" sz="1917"/>
              <a:t>Student </a:t>
            </a:r>
            <a:r>
              <a:rPr lang="en" sz="1917"/>
              <a:t>Sequence Diagram</a:t>
            </a:r>
            <a:endParaRPr sz="1917"/>
          </a:p>
        </p:txBody>
      </p:sp>
      <p:pic>
        <p:nvPicPr>
          <p:cNvPr id="174" name="Google Shape;174;p25" title="Screenshot 2025-04-30 11533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318054"/>
            <a:ext cx="4434338" cy="3142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5" title="Screenshot 2025-04-30 11534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39138" y="1699054"/>
            <a:ext cx="4252461" cy="2569713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5"/>
          <p:cNvSpPr txBox="1"/>
          <p:nvPr>
            <p:ph idx="1" type="body"/>
          </p:nvPr>
        </p:nvSpPr>
        <p:spPr>
          <a:xfrm>
            <a:off x="726475" y="4383950"/>
            <a:ext cx="32862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358"/>
              <a:buNone/>
            </a:pPr>
            <a:r>
              <a:rPr lang="en" sz="1917"/>
              <a:t>Admin </a:t>
            </a:r>
            <a:r>
              <a:rPr lang="en" sz="1917"/>
              <a:t>Sequence Diagram</a:t>
            </a:r>
            <a:endParaRPr sz="1917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 txBox="1"/>
          <p:nvPr>
            <p:ph idx="1" type="body"/>
          </p:nvPr>
        </p:nvSpPr>
        <p:spPr>
          <a:xfrm>
            <a:off x="311700" y="1649800"/>
            <a:ext cx="4043700" cy="29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The CRUD matrix helps </a:t>
            </a:r>
            <a:r>
              <a:rPr lang="en" sz="1900"/>
              <a:t>visualize</a:t>
            </a:r>
            <a:r>
              <a:rPr lang="en" sz="1900"/>
              <a:t> the </a:t>
            </a:r>
            <a:r>
              <a:rPr lang="en" sz="1900"/>
              <a:t>activities</a:t>
            </a:r>
            <a:r>
              <a:rPr lang="en" sz="1900"/>
              <a:t> and permissions within a system. </a:t>
            </a:r>
            <a:endParaRPr sz="1900"/>
          </a:p>
          <a:p>
            <a:pPr indent="-349250" lvl="0" marL="457200" rtl="0" algn="l"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C -&gt; Create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R -&gt; Read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U -&gt; Update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D -&gt; Delete</a:t>
            </a:r>
            <a:endParaRPr sz="1900"/>
          </a:p>
        </p:txBody>
      </p:sp>
      <p:pic>
        <p:nvPicPr>
          <p:cNvPr id="182" name="Google Shape;182;p26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6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4" name="Google Shape;184;p26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185" name="Google Shape;185;p26"/>
          <p:cNvSpPr txBox="1"/>
          <p:nvPr>
            <p:ph type="title"/>
          </p:nvPr>
        </p:nvSpPr>
        <p:spPr>
          <a:xfrm>
            <a:off x="6127250" y="516750"/>
            <a:ext cx="1852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CRUD Matrix</a:t>
            </a:r>
            <a:endParaRPr sz="2700"/>
          </a:p>
        </p:txBody>
      </p:sp>
      <p:pic>
        <p:nvPicPr>
          <p:cNvPr id="186" name="Google Shape;186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4200" y="1516225"/>
            <a:ext cx="5032499" cy="23693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7"/>
          <p:cNvSpPr txBox="1"/>
          <p:nvPr>
            <p:ph type="title"/>
          </p:nvPr>
        </p:nvSpPr>
        <p:spPr>
          <a:xfrm>
            <a:off x="5823850" y="445025"/>
            <a:ext cx="3008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 of Interest</a:t>
            </a:r>
            <a:endParaRPr/>
          </a:p>
        </p:txBody>
      </p:sp>
      <p:pic>
        <p:nvPicPr>
          <p:cNvPr id="192" name="Google Shape;192;p27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9599" y="1592049"/>
            <a:ext cx="8073851" cy="28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7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5" name="Google Shape;195;p27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8"/>
          <p:cNvSpPr txBox="1"/>
          <p:nvPr>
            <p:ph idx="1" type="body"/>
          </p:nvPr>
        </p:nvSpPr>
        <p:spPr>
          <a:xfrm>
            <a:off x="159300" y="1573600"/>
            <a:ext cx="8520600" cy="29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en" sz="2100"/>
              <a:t>Environment Description</a:t>
            </a:r>
            <a:endParaRPr sz="2100"/>
          </a:p>
          <a:p>
            <a:pPr indent="-3619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</a:pPr>
            <a:r>
              <a:rPr lang="en" sz="2100"/>
              <a:t>Relevant stakeholders: students, faculty, UNA I.T. department, and bus driver(s)</a:t>
            </a:r>
            <a:endParaRPr sz="2100"/>
          </a:p>
          <a:p>
            <a:pPr indent="-361950" lvl="2" marL="13716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</a:pPr>
            <a:r>
              <a:rPr lang="en" sz="2100"/>
              <a:t>Students/Faculty: need to expect reliable, easy-to-use, and </a:t>
            </a:r>
            <a:r>
              <a:rPr lang="en" sz="2100"/>
              <a:t>efficient</a:t>
            </a:r>
            <a:r>
              <a:rPr lang="en" sz="2100"/>
              <a:t> way of transportations</a:t>
            </a:r>
            <a:endParaRPr sz="2100"/>
          </a:p>
          <a:p>
            <a:pPr indent="-361950" lvl="2" marL="13716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</a:pPr>
            <a:r>
              <a:rPr lang="en" sz="2100"/>
              <a:t>UNA I.T. Department: conduct maintenance for the GPS hardware and system application</a:t>
            </a:r>
            <a:endParaRPr sz="2100"/>
          </a:p>
          <a:p>
            <a:pPr indent="-361950" lvl="2" marL="13716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</a:pPr>
            <a:r>
              <a:rPr lang="en" sz="2100"/>
              <a:t>Bus Driver(s): </a:t>
            </a:r>
            <a:r>
              <a:rPr lang="en" sz="2100"/>
              <a:t>effectively</a:t>
            </a:r>
            <a:r>
              <a:rPr lang="en" sz="2100"/>
              <a:t> transport passengers and handle the system on the bus(es)</a:t>
            </a:r>
            <a:endParaRPr sz="2100"/>
          </a:p>
        </p:txBody>
      </p:sp>
      <p:pic>
        <p:nvPicPr>
          <p:cNvPr id="201" name="Google Shape;201;p28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8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3" name="Google Shape;203;p28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204" name="Google Shape;204;p28"/>
          <p:cNvSpPr txBox="1"/>
          <p:nvPr>
            <p:ph type="title"/>
          </p:nvPr>
        </p:nvSpPr>
        <p:spPr>
          <a:xfrm>
            <a:off x="5814975" y="592950"/>
            <a:ext cx="2796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Preliminary Design</a:t>
            </a:r>
            <a:endParaRPr sz="27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9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9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1" name="Google Shape;211;p29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212" name="Google Shape;212;p29"/>
          <p:cNvSpPr txBox="1"/>
          <p:nvPr>
            <p:ph type="title"/>
          </p:nvPr>
        </p:nvSpPr>
        <p:spPr>
          <a:xfrm>
            <a:off x="6355850" y="440550"/>
            <a:ext cx="2347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Database Design</a:t>
            </a:r>
            <a:endParaRPr sz="2700"/>
          </a:p>
        </p:txBody>
      </p:sp>
      <p:pic>
        <p:nvPicPr>
          <p:cNvPr id="213" name="Google Shape;21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3013" y="1318054"/>
            <a:ext cx="5137963" cy="33573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30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0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0" name="Google Shape;220;p30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221" name="Google Shape;221;p30"/>
          <p:cNvSpPr txBox="1"/>
          <p:nvPr>
            <p:ph type="title"/>
          </p:nvPr>
        </p:nvSpPr>
        <p:spPr>
          <a:xfrm>
            <a:off x="5595400" y="304800"/>
            <a:ext cx="3160800" cy="108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Software Classes and Methods</a:t>
            </a:r>
            <a:endParaRPr sz="2700"/>
          </a:p>
        </p:txBody>
      </p:sp>
      <p:pic>
        <p:nvPicPr>
          <p:cNvPr id="222" name="Google Shape;222;p30" title="Screenshot 2025-04-30 11554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00200" y="1386600"/>
            <a:ext cx="5991949" cy="335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31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3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9" name="Google Shape;229;p31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230" name="Google Shape;230;p31"/>
          <p:cNvSpPr txBox="1"/>
          <p:nvPr>
            <p:ph type="title"/>
          </p:nvPr>
        </p:nvSpPr>
        <p:spPr>
          <a:xfrm>
            <a:off x="5267625" y="73400"/>
            <a:ext cx="3876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3200"/>
              <a:t>Application Components</a:t>
            </a:r>
            <a:endParaRPr sz="3200"/>
          </a:p>
        </p:txBody>
      </p:sp>
      <p:sp>
        <p:nvSpPr>
          <p:cNvPr id="231" name="Google Shape;231;p31"/>
          <p:cNvSpPr txBox="1"/>
          <p:nvPr>
            <p:ph type="title"/>
          </p:nvPr>
        </p:nvSpPr>
        <p:spPr>
          <a:xfrm>
            <a:off x="5527375" y="745350"/>
            <a:ext cx="3377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Package Diagram</a:t>
            </a:r>
            <a:endParaRPr sz="2700"/>
          </a:p>
        </p:txBody>
      </p:sp>
      <p:pic>
        <p:nvPicPr>
          <p:cNvPr id="232" name="Google Shape;232;p31" title="Screenshot 2025-04-30 10260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5225" y="1421025"/>
            <a:ext cx="3742175" cy="165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31" title="Screenshot 2025-04-30 10261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72000" y="1852200"/>
            <a:ext cx="4226750" cy="230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1" title="Screenshot 2025-04-30 10262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8164" y="3297727"/>
            <a:ext cx="3876300" cy="13095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2"/>
          <p:cNvSpPr txBox="1"/>
          <p:nvPr>
            <p:ph idx="1" type="body"/>
          </p:nvPr>
        </p:nvSpPr>
        <p:spPr>
          <a:xfrm>
            <a:off x="311700" y="1497400"/>
            <a:ext cx="8520600" cy="317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1900"/>
              <a:t>Key Components: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User browser</a:t>
            </a:r>
            <a:endParaRPr sz="1900"/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Smartphones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Hosts UI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Business Logic </a:t>
            </a:r>
            <a:r>
              <a:rPr lang="en" sz="1900"/>
              <a:t>Components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Central Databases</a:t>
            </a:r>
            <a:endParaRPr sz="1900"/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Used for shuttle(s), users, and GPS data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Possible bought </a:t>
            </a:r>
            <a:r>
              <a:rPr lang="en" sz="1900"/>
              <a:t>products</a:t>
            </a:r>
            <a:r>
              <a:rPr lang="en" sz="1900"/>
              <a:t> include:</a:t>
            </a:r>
            <a:endParaRPr sz="1900"/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GPS data provider, map and route services, authentication system, and application hosting</a:t>
            </a:r>
            <a:endParaRPr sz="1900"/>
          </a:p>
        </p:txBody>
      </p:sp>
      <p:pic>
        <p:nvPicPr>
          <p:cNvPr id="240" name="Google Shape;240;p32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2" name="Google Shape;242;p32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243" name="Google Shape;243;p32"/>
          <p:cNvSpPr txBox="1"/>
          <p:nvPr>
            <p:ph type="title"/>
          </p:nvPr>
        </p:nvSpPr>
        <p:spPr>
          <a:xfrm>
            <a:off x="5508325" y="304800"/>
            <a:ext cx="3364500" cy="10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Design Application Component </a:t>
            </a:r>
            <a:r>
              <a:rPr lang="en" sz="2700"/>
              <a:t>Description</a:t>
            </a:r>
            <a:endParaRPr sz="27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3"/>
          <p:cNvSpPr txBox="1"/>
          <p:nvPr>
            <p:ph idx="1" type="body"/>
          </p:nvPr>
        </p:nvSpPr>
        <p:spPr>
          <a:xfrm>
            <a:off x="1610275" y="4409075"/>
            <a:ext cx="2634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358"/>
              <a:buNone/>
            </a:pPr>
            <a:r>
              <a:rPr lang="en" sz="1917"/>
              <a:t>Component Diagram</a:t>
            </a:r>
            <a:endParaRPr sz="1917"/>
          </a:p>
        </p:txBody>
      </p:sp>
      <p:pic>
        <p:nvPicPr>
          <p:cNvPr id="249" name="Google Shape;249;p33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33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1" name="Google Shape;251;p33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252" name="Google Shape;252;p33"/>
          <p:cNvSpPr txBox="1"/>
          <p:nvPr>
            <p:ph type="title"/>
          </p:nvPr>
        </p:nvSpPr>
        <p:spPr>
          <a:xfrm>
            <a:off x="5267625" y="73400"/>
            <a:ext cx="3876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3200"/>
              <a:t>Application Components</a:t>
            </a:r>
            <a:endParaRPr sz="3200"/>
          </a:p>
        </p:txBody>
      </p:sp>
      <p:sp>
        <p:nvSpPr>
          <p:cNvPr id="253" name="Google Shape;253;p33"/>
          <p:cNvSpPr txBox="1"/>
          <p:nvPr>
            <p:ph type="title"/>
          </p:nvPr>
        </p:nvSpPr>
        <p:spPr>
          <a:xfrm>
            <a:off x="5527375" y="592950"/>
            <a:ext cx="3377100" cy="101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Component and Deployment Diagrams</a:t>
            </a:r>
            <a:endParaRPr sz="2700"/>
          </a:p>
        </p:txBody>
      </p:sp>
      <p:sp>
        <p:nvSpPr>
          <p:cNvPr id="254" name="Google Shape;254;p33"/>
          <p:cNvSpPr txBox="1"/>
          <p:nvPr>
            <p:ph idx="1" type="body"/>
          </p:nvPr>
        </p:nvSpPr>
        <p:spPr>
          <a:xfrm>
            <a:off x="5820325" y="4295150"/>
            <a:ext cx="27912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358"/>
              <a:buNone/>
            </a:pPr>
            <a:r>
              <a:rPr lang="en" sz="1917"/>
              <a:t>Deployment Diagram</a:t>
            </a:r>
            <a:endParaRPr sz="1917"/>
          </a:p>
        </p:txBody>
      </p:sp>
      <p:pic>
        <p:nvPicPr>
          <p:cNvPr id="255" name="Google Shape;255;p33" title="Screenshot 2025-04-30 10204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" y="1584379"/>
            <a:ext cx="4392953" cy="282469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33" title="Screenshot 2025-04-30 10205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29878" y="1955250"/>
            <a:ext cx="3181648" cy="238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4"/>
          <p:cNvSpPr txBox="1"/>
          <p:nvPr>
            <p:ph idx="1" type="body"/>
          </p:nvPr>
        </p:nvSpPr>
        <p:spPr>
          <a:xfrm>
            <a:off x="311700" y="1649800"/>
            <a:ext cx="8520600" cy="101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900"/>
              <a:t>Net present value (NPV) charts helps a team be able to visualize whether their project or system will be profitable over time.</a:t>
            </a:r>
            <a:endParaRPr sz="1900"/>
          </a:p>
        </p:txBody>
      </p:sp>
      <p:pic>
        <p:nvPicPr>
          <p:cNvPr id="262" name="Google Shape;262;p34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34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4" name="Google Shape;264;p34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265" name="Google Shape;265;p34"/>
          <p:cNvSpPr txBox="1"/>
          <p:nvPr>
            <p:ph type="title"/>
          </p:nvPr>
        </p:nvSpPr>
        <p:spPr>
          <a:xfrm>
            <a:off x="5873750" y="745350"/>
            <a:ext cx="3173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Net Present Value</a:t>
            </a:r>
            <a:endParaRPr sz="2700"/>
          </a:p>
        </p:txBody>
      </p:sp>
      <p:sp>
        <p:nvSpPr>
          <p:cNvPr id="266" name="Google Shape;266;p34"/>
          <p:cNvSpPr txBox="1"/>
          <p:nvPr>
            <p:ph type="title"/>
          </p:nvPr>
        </p:nvSpPr>
        <p:spPr>
          <a:xfrm>
            <a:off x="5475600" y="149600"/>
            <a:ext cx="3432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3200"/>
              <a:t>Project Management:</a:t>
            </a:r>
            <a:endParaRPr sz="3200"/>
          </a:p>
        </p:txBody>
      </p:sp>
      <p:pic>
        <p:nvPicPr>
          <p:cNvPr id="267" name="Google Shape;267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4950" y="2706225"/>
            <a:ext cx="8948099" cy="91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5"/>
          <p:cNvSpPr txBox="1"/>
          <p:nvPr>
            <p:ph idx="1" type="body"/>
          </p:nvPr>
        </p:nvSpPr>
        <p:spPr>
          <a:xfrm>
            <a:off x="311700" y="1649800"/>
            <a:ext cx="8520600" cy="92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900"/>
              <a:t>A payback period chart represents how quickly a project or system will recover from the </a:t>
            </a:r>
            <a:r>
              <a:rPr lang="en" sz="1900"/>
              <a:t>initial</a:t>
            </a:r>
            <a:r>
              <a:rPr lang="en" sz="1900"/>
              <a:t> costs.</a:t>
            </a:r>
            <a:endParaRPr sz="1900"/>
          </a:p>
        </p:txBody>
      </p:sp>
      <p:pic>
        <p:nvPicPr>
          <p:cNvPr id="273" name="Google Shape;273;p35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35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5" name="Google Shape;275;p35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276" name="Google Shape;276;p35"/>
          <p:cNvSpPr txBox="1"/>
          <p:nvPr>
            <p:ph type="title"/>
          </p:nvPr>
        </p:nvSpPr>
        <p:spPr>
          <a:xfrm>
            <a:off x="6047100" y="798500"/>
            <a:ext cx="211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Payback Period</a:t>
            </a:r>
            <a:endParaRPr sz="2700"/>
          </a:p>
        </p:txBody>
      </p:sp>
      <p:sp>
        <p:nvSpPr>
          <p:cNvPr id="277" name="Google Shape;277;p35"/>
          <p:cNvSpPr txBox="1"/>
          <p:nvPr>
            <p:ph type="title"/>
          </p:nvPr>
        </p:nvSpPr>
        <p:spPr>
          <a:xfrm>
            <a:off x="5475600" y="149600"/>
            <a:ext cx="3432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3200"/>
              <a:t>Project Management:</a:t>
            </a:r>
            <a:endParaRPr sz="3200"/>
          </a:p>
        </p:txBody>
      </p:sp>
      <p:pic>
        <p:nvPicPr>
          <p:cNvPr id="278" name="Google Shape;27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377" y="2720500"/>
            <a:ext cx="8520600" cy="65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6"/>
          <p:cNvSpPr txBox="1"/>
          <p:nvPr>
            <p:ph idx="1" type="body"/>
          </p:nvPr>
        </p:nvSpPr>
        <p:spPr>
          <a:xfrm>
            <a:off x="311700" y="1649800"/>
            <a:ext cx="8520600" cy="30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900"/>
              <a:t>Return on Investment (ROI) charts help to visualize the profit on systems and </a:t>
            </a:r>
            <a:r>
              <a:rPr lang="en" sz="1900"/>
              <a:t>projects</a:t>
            </a:r>
            <a:r>
              <a:rPr lang="en" sz="1900"/>
              <a:t>. This can help a team monitor </a:t>
            </a:r>
            <a:r>
              <a:rPr lang="en" sz="1900"/>
              <a:t>the</a:t>
            </a:r>
            <a:r>
              <a:rPr lang="en" sz="1900"/>
              <a:t> performance of their system or project.</a:t>
            </a:r>
            <a:endParaRPr sz="1900"/>
          </a:p>
        </p:txBody>
      </p:sp>
      <p:pic>
        <p:nvPicPr>
          <p:cNvPr id="284" name="Google Shape;284;p36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6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6" name="Google Shape;286;p36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287" name="Google Shape;287;p36"/>
          <p:cNvSpPr txBox="1"/>
          <p:nvPr>
            <p:ph type="title"/>
          </p:nvPr>
        </p:nvSpPr>
        <p:spPr>
          <a:xfrm>
            <a:off x="5492750" y="669150"/>
            <a:ext cx="3173100" cy="10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Return On Investment Calculations</a:t>
            </a:r>
            <a:endParaRPr sz="2700"/>
          </a:p>
        </p:txBody>
      </p:sp>
      <p:sp>
        <p:nvSpPr>
          <p:cNvPr id="288" name="Google Shape;288;p36"/>
          <p:cNvSpPr txBox="1"/>
          <p:nvPr>
            <p:ph type="title"/>
          </p:nvPr>
        </p:nvSpPr>
        <p:spPr>
          <a:xfrm>
            <a:off x="5475600" y="149600"/>
            <a:ext cx="3432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3200"/>
              <a:t>Project Management:</a:t>
            </a:r>
            <a:endParaRPr sz="3200"/>
          </a:p>
        </p:txBody>
      </p:sp>
      <p:pic>
        <p:nvPicPr>
          <p:cNvPr id="289" name="Google Shape;289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74525" y="2777213"/>
            <a:ext cx="3676650" cy="176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7"/>
          <p:cNvSpPr txBox="1"/>
          <p:nvPr>
            <p:ph idx="1" type="body"/>
          </p:nvPr>
        </p:nvSpPr>
        <p:spPr>
          <a:xfrm>
            <a:off x="152400" y="1394250"/>
            <a:ext cx="8679900" cy="13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1900"/>
              <a:t>A PERT chart is to help the project team organize their tasks within a project with a timeline.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For this PERT, the critical path starts with the backend development.</a:t>
            </a:r>
            <a:endParaRPr sz="1900"/>
          </a:p>
        </p:txBody>
      </p:sp>
      <p:pic>
        <p:nvPicPr>
          <p:cNvPr id="295" name="Google Shape;295;p37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7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7" name="Google Shape;297;p37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298" name="Google Shape;298;p37"/>
          <p:cNvSpPr txBox="1"/>
          <p:nvPr>
            <p:ph type="title"/>
          </p:nvPr>
        </p:nvSpPr>
        <p:spPr>
          <a:xfrm>
            <a:off x="6178550" y="821550"/>
            <a:ext cx="1714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PERT Chart</a:t>
            </a:r>
            <a:endParaRPr sz="2700"/>
          </a:p>
        </p:txBody>
      </p:sp>
      <p:sp>
        <p:nvSpPr>
          <p:cNvPr id="299" name="Google Shape;299;p37"/>
          <p:cNvSpPr txBox="1"/>
          <p:nvPr>
            <p:ph type="title"/>
          </p:nvPr>
        </p:nvSpPr>
        <p:spPr>
          <a:xfrm>
            <a:off x="5475600" y="149600"/>
            <a:ext cx="3432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3200"/>
              <a:t>Project Management:</a:t>
            </a:r>
            <a:endParaRPr sz="3200"/>
          </a:p>
        </p:txBody>
      </p:sp>
      <p:pic>
        <p:nvPicPr>
          <p:cNvPr id="300" name="Google Shape;300;p37" title="Screenshot 2025-05-01 08012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757400"/>
            <a:ext cx="8756100" cy="207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8"/>
          <p:cNvSpPr txBox="1"/>
          <p:nvPr>
            <p:ph idx="1" type="body"/>
          </p:nvPr>
        </p:nvSpPr>
        <p:spPr>
          <a:xfrm>
            <a:off x="311700" y="1318050"/>
            <a:ext cx="8520600" cy="12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900"/>
              <a:t>While very similar, CPM charts have a more fixed time estimate than a PERT chart. The critical path is still the same as the PERT as it defines the minimum time required to finish the project.</a:t>
            </a:r>
            <a:endParaRPr sz="1900"/>
          </a:p>
        </p:txBody>
      </p:sp>
      <p:pic>
        <p:nvPicPr>
          <p:cNvPr id="306" name="Google Shape;306;p38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8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8" name="Google Shape;308;p38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309" name="Google Shape;309;p38"/>
          <p:cNvSpPr txBox="1"/>
          <p:nvPr>
            <p:ph type="title"/>
          </p:nvPr>
        </p:nvSpPr>
        <p:spPr>
          <a:xfrm>
            <a:off x="6254750" y="745350"/>
            <a:ext cx="1714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CPM </a:t>
            </a:r>
            <a:r>
              <a:rPr lang="en" sz="2700"/>
              <a:t>Chart</a:t>
            </a:r>
            <a:endParaRPr sz="2700"/>
          </a:p>
        </p:txBody>
      </p:sp>
      <p:sp>
        <p:nvSpPr>
          <p:cNvPr id="310" name="Google Shape;310;p38"/>
          <p:cNvSpPr txBox="1"/>
          <p:nvPr>
            <p:ph type="title"/>
          </p:nvPr>
        </p:nvSpPr>
        <p:spPr>
          <a:xfrm>
            <a:off x="5475600" y="149600"/>
            <a:ext cx="3432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3200"/>
              <a:t>Project Management:</a:t>
            </a:r>
            <a:endParaRPr sz="3200"/>
          </a:p>
        </p:txBody>
      </p:sp>
      <p:pic>
        <p:nvPicPr>
          <p:cNvPr id="311" name="Google Shape;311;p38" title="Screenshot 2025-05-01 08114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527300"/>
            <a:ext cx="8894301" cy="230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9"/>
          <p:cNvSpPr txBox="1"/>
          <p:nvPr>
            <p:ph type="title"/>
          </p:nvPr>
        </p:nvSpPr>
        <p:spPr>
          <a:xfrm>
            <a:off x="5784775" y="592950"/>
            <a:ext cx="2945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Mockup of Prototype</a:t>
            </a:r>
            <a:endParaRPr sz="2700"/>
          </a:p>
        </p:txBody>
      </p:sp>
      <p:pic>
        <p:nvPicPr>
          <p:cNvPr id="317" name="Google Shape;317;p39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9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9" name="Google Shape;319;p39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pic>
        <p:nvPicPr>
          <p:cNvPr id="320" name="Google Shape;320;p39" title="Screenshot 2025-04-30 10052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9875" y="1333100"/>
            <a:ext cx="3576250" cy="3673051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39"/>
          <p:cNvSpPr txBox="1"/>
          <p:nvPr>
            <p:ph idx="1" type="body"/>
          </p:nvPr>
        </p:nvSpPr>
        <p:spPr>
          <a:xfrm>
            <a:off x="311700" y="1649800"/>
            <a:ext cx="4157400" cy="29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1900"/>
              <a:t>Left side shows the admin’s view of their allowed tools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Right side shows what the user will see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Lower-right shows what it is like to create a stop</a:t>
            </a:r>
            <a:endParaRPr sz="19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0"/>
          <p:cNvSpPr txBox="1"/>
          <p:nvPr>
            <p:ph type="title"/>
          </p:nvPr>
        </p:nvSpPr>
        <p:spPr>
          <a:xfrm>
            <a:off x="6390100" y="592950"/>
            <a:ext cx="1818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500"/>
              <a:t>Conclusion</a:t>
            </a:r>
            <a:endParaRPr sz="2700"/>
          </a:p>
        </p:txBody>
      </p:sp>
      <p:sp>
        <p:nvSpPr>
          <p:cNvPr id="327" name="Google Shape;327;p40"/>
          <p:cNvSpPr txBox="1"/>
          <p:nvPr>
            <p:ph idx="1" type="body"/>
          </p:nvPr>
        </p:nvSpPr>
        <p:spPr>
          <a:xfrm>
            <a:off x="311700" y="1325775"/>
            <a:ext cx="8520600" cy="35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746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1900"/>
              <a:t>Goal: To create an efficient and effective way of transportation for the students and faculty around the University of North Alabama</a:t>
            </a:r>
            <a:endParaRPr sz="1900"/>
          </a:p>
          <a:p>
            <a:pPr indent="-3492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Future Work: To monitor the amount of use from the shuttles and continue to manage the maintenance. </a:t>
            </a:r>
            <a:endParaRPr sz="1900"/>
          </a:p>
          <a:p>
            <a:pPr indent="-3492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Lesson Learned: Designing and setting up a system requires more diagrams than imagined.</a:t>
            </a:r>
            <a:endParaRPr sz="1900"/>
          </a:p>
          <a:p>
            <a:pPr indent="-3492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Lesson Learned: </a:t>
            </a:r>
            <a:r>
              <a:rPr lang="en" sz="1900"/>
              <a:t>(everyone include one)</a:t>
            </a:r>
            <a:endParaRPr sz="1900"/>
          </a:p>
          <a:p>
            <a:pPr indent="-3492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Lesson Learned: It is important to get user feedback throughout the process so that improvements can be made for user satisfaction.</a:t>
            </a:r>
            <a:endParaRPr sz="1900"/>
          </a:p>
          <a:p>
            <a:pPr indent="-3492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Lesson Learned: </a:t>
            </a:r>
            <a:endParaRPr sz="1900"/>
          </a:p>
        </p:txBody>
      </p:sp>
      <p:pic>
        <p:nvPicPr>
          <p:cNvPr id="328" name="Google Shape;328;p40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40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0" name="Google Shape;330;p40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41"/>
          <p:cNvSpPr txBox="1"/>
          <p:nvPr>
            <p:ph idx="1" type="body"/>
          </p:nvPr>
        </p:nvSpPr>
        <p:spPr>
          <a:xfrm>
            <a:off x="311700" y="1649800"/>
            <a:ext cx="8520600" cy="29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b="1" lang="en" sz="1900"/>
              <a:t>THIS IS A TEMPLATE SLIDE. BE SURE TO DELETE BEFORE TURNING IN.</a:t>
            </a:r>
            <a:endParaRPr b="1" sz="1900"/>
          </a:p>
        </p:txBody>
      </p:sp>
      <p:pic>
        <p:nvPicPr>
          <p:cNvPr id="336" name="Google Shape;336;p41" title="UNA-Logo-Long-Gold-White-we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4"/>
            <a:ext cx="4940749" cy="1013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4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8" name="Google Shape;338;p41"/>
          <p:cNvSpPr txBox="1"/>
          <p:nvPr>
            <p:ph type="title"/>
          </p:nvPr>
        </p:nvSpPr>
        <p:spPr>
          <a:xfrm>
            <a:off x="0" y="4827800"/>
            <a:ext cx="41574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300"/>
              <a:t>Olivia Sharpston, Christian Miller, Nolen Robinson, Jacobe Johnson</a:t>
            </a:r>
            <a:endParaRPr sz="1300"/>
          </a:p>
        </p:txBody>
      </p:sp>
      <p:sp>
        <p:nvSpPr>
          <p:cNvPr id="339" name="Google Shape;339;p41"/>
          <p:cNvSpPr txBox="1"/>
          <p:nvPr>
            <p:ph type="title"/>
          </p:nvPr>
        </p:nvSpPr>
        <p:spPr>
          <a:xfrm>
            <a:off x="6355850" y="592950"/>
            <a:ext cx="1852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700"/>
              <a:t>TITLE</a:t>
            </a:r>
            <a:endParaRPr sz="2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p">
  <a:themeElements>
    <a:clrScheme name="Pop">
      <a:dk1>
        <a:srgbClr val="F8E71C"/>
      </a:dk1>
      <a:lt1>
        <a:srgbClr val="FFFFFF"/>
      </a:lt1>
      <a:dk2>
        <a:srgbClr val="000000"/>
      </a:dk2>
      <a:lt2>
        <a:srgbClr val="D9D9D9"/>
      </a:lt2>
      <a:accent1>
        <a:srgbClr val="666666"/>
      </a:accent1>
      <a:accent2>
        <a:srgbClr val="483165"/>
      </a:accent2>
      <a:accent3>
        <a:srgbClr val="EB1E95"/>
      </a:accent3>
      <a:accent4>
        <a:srgbClr val="01AFD1"/>
      </a:accent4>
      <a:accent5>
        <a:srgbClr val="0F9D58"/>
      </a:accent5>
      <a:accent6>
        <a:srgbClr val="9C27B0"/>
      </a:accent6>
      <a:hlink>
        <a:srgbClr val="0F9D58"/>
      </a:hlink>
      <a:folHlink>
        <a:srgbClr val="0F9D5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